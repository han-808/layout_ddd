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/>
      </a:lvl1pPr>
    </p:titleStyle>
    <p:bodyStyle>
      <a:lvl1pPr marL="0" indent="0">
        <a:defRPr sz="1200"/>
      </a:lvl1pPr>
    </p:bodyStyle>
    <p:otherStyle>
      <a:lvl1pPr>
        <a:defRPr sz="12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Current Workflow Overview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bbox-proxy layout benchmark; VLM judgement is final validity for parseable layouts</a:t>
            </a:r>
          </a:p>
        </p:txBody>
      </p:sp>
      <p:sp>
        <p:nvSpPr>
          <p:cNvPr id="3" name="w1_0"/>
          <p:cNvSpPr/>
          <p:nvPr/>
        </p:nvSpPr>
        <p:spPr>
          <a:xfrm>
            <a:off x="320040" y="1051560"/>
            <a:ext cx="1353312" cy="50292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Case JSON</a:t>
            </a:r>
          </a:p>
        </p:txBody>
      </p:sp>
      <p:sp>
        <p:nvSpPr>
          <p:cNvPr id="4" name="arr1_0"/>
          <p:cNvSpPr/>
          <p:nvPr/>
        </p:nvSpPr>
        <p:spPr>
          <a:xfrm>
            <a:off x="1536192" y="1170432"/>
            <a:ext cx="384048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w1_1"/>
          <p:cNvSpPr/>
          <p:nvPr/>
        </p:nvSpPr>
        <p:spPr>
          <a:xfrm>
            <a:off x="1984248" y="1051560"/>
            <a:ext cx="1353312" cy="50292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Normalize</a:t>
            </a:r>
          </a:p>
        </p:txBody>
      </p:sp>
      <p:sp>
        <p:nvSpPr>
          <p:cNvPr id="6" name="arr1_1"/>
          <p:cNvSpPr/>
          <p:nvPr/>
        </p:nvSpPr>
        <p:spPr>
          <a:xfrm>
            <a:off x="3200400" y="1170432"/>
            <a:ext cx="384048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w1_2"/>
          <p:cNvSpPr/>
          <p:nvPr/>
        </p:nvSpPr>
        <p:spPr>
          <a:xfrm>
            <a:off x="3648456" y="1051560"/>
            <a:ext cx="1353312" cy="50292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Models</a:t>
            </a:r>
          </a:p>
        </p:txBody>
      </p:sp>
      <p:sp>
        <p:nvSpPr>
          <p:cNvPr id="8" name="arr1_2"/>
          <p:cNvSpPr/>
          <p:nvPr/>
        </p:nvSpPr>
        <p:spPr>
          <a:xfrm>
            <a:off x="4864608" y="1170432"/>
            <a:ext cx="384048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w1_3"/>
          <p:cNvSpPr/>
          <p:nvPr/>
        </p:nvSpPr>
        <p:spPr>
          <a:xfrm>
            <a:off x="5312664" y="1051560"/>
            <a:ext cx="1353312" cy="50292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Generate</a:t>
            </a:r>
          </a:p>
        </p:txBody>
      </p:sp>
      <p:sp>
        <p:nvSpPr>
          <p:cNvPr id="10" name="arr1_3"/>
          <p:cNvSpPr/>
          <p:nvPr/>
        </p:nvSpPr>
        <p:spPr>
          <a:xfrm>
            <a:off x="6528816" y="1170432"/>
            <a:ext cx="384048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w1_4"/>
          <p:cNvSpPr/>
          <p:nvPr/>
        </p:nvSpPr>
        <p:spPr>
          <a:xfrm>
            <a:off x="6976872" y="1051560"/>
            <a:ext cx="1353312" cy="50292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initial_layout</a:t>
            </a:r>
          </a:p>
        </p:txBody>
      </p:sp>
      <p:sp>
        <p:nvSpPr>
          <p:cNvPr id="12" name="arr1_4"/>
          <p:cNvSpPr/>
          <p:nvPr/>
        </p:nvSpPr>
        <p:spPr>
          <a:xfrm>
            <a:off x="8193024" y="1170432"/>
            <a:ext cx="384048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w1_5"/>
          <p:cNvSpPr/>
          <p:nvPr/>
        </p:nvSpPr>
        <p:spPr>
          <a:xfrm>
            <a:off x="8641080" y="1051560"/>
            <a:ext cx="1353312" cy="50292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Evidence</a:t>
            </a:r>
          </a:p>
        </p:txBody>
      </p:sp>
      <p:sp>
        <p:nvSpPr>
          <p:cNvPr id="14" name="arr1_5"/>
          <p:cNvSpPr/>
          <p:nvPr/>
        </p:nvSpPr>
        <p:spPr>
          <a:xfrm>
            <a:off x="9857232" y="1170432"/>
            <a:ext cx="384048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w1_6"/>
          <p:cNvSpPr/>
          <p:nvPr/>
        </p:nvSpPr>
        <p:spPr>
          <a:xfrm>
            <a:off x="10305288" y="1051560"/>
            <a:ext cx="1353312" cy="50292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Grouping</a:t>
            </a:r>
          </a:p>
        </p:txBody>
      </p:sp>
      <p:sp>
        <p:nvSpPr>
          <p:cNvPr id="16" name="w2_0"/>
          <p:cNvSpPr/>
          <p:nvPr/>
        </p:nvSpPr>
        <p:spPr>
          <a:xfrm>
            <a:off x="320040" y="1965960"/>
            <a:ext cx="1353312" cy="50292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BBox render</a:t>
            </a:r>
          </a:p>
        </p:txBody>
      </p:sp>
      <p:sp>
        <p:nvSpPr>
          <p:cNvPr id="17" name="arr2_0"/>
          <p:cNvSpPr/>
          <p:nvPr/>
        </p:nvSpPr>
        <p:spPr>
          <a:xfrm>
            <a:off x="1536192" y="2084832"/>
            <a:ext cx="384048" cy="201168"/>
          </a:xfrm>
          <a:prstGeom prst="rightArrow">
            <a:avLst/>
          </a:prstGeom>
          <a:solidFill>
            <a:srgbClr val="6F8DBD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w2_1"/>
          <p:cNvSpPr/>
          <p:nvPr/>
        </p:nvSpPr>
        <p:spPr>
          <a:xfrm>
            <a:off x="1984248" y="1965960"/>
            <a:ext cx="1353312" cy="50292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Select evidence</a:t>
            </a:r>
          </a:p>
        </p:txBody>
      </p:sp>
      <p:sp>
        <p:nvSpPr>
          <p:cNvPr id="19" name="arr2_1"/>
          <p:cNvSpPr/>
          <p:nvPr/>
        </p:nvSpPr>
        <p:spPr>
          <a:xfrm>
            <a:off x="3200400" y="2084832"/>
            <a:ext cx="384048" cy="201168"/>
          </a:xfrm>
          <a:prstGeom prst="rightArrow">
            <a:avLst/>
          </a:prstGeom>
          <a:solidFill>
            <a:srgbClr val="6F8DBD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w2_2"/>
          <p:cNvSpPr/>
          <p:nvPr/>
        </p:nvSpPr>
        <p:spPr>
          <a:xfrm>
            <a:off x="3648456" y="1965960"/>
            <a:ext cx="1353312" cy="50292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Build prompt</a:t>
            </a:r>
          </a:p>
        </p:txBody>
      </p:sp>
      <p:sp>
        <p:nvSpPr>
          <p:cNvPr id="21" name="arr2_2"/>
          <p:cNvSpPr/>
          <p:nvPr/>
        </p:nvSpPr>
        <p:spPr>
          <a:xfrm>
            <a:off x="4864608" y="2084832"/>
            <a:ext cx="384048" cy="201168"/>
          </a:xfrm>
          <a:prstGeom prst="rightArrow">
            <a:avLst/>
          </a:prstGeom>
          <a:solidFill>
            <a:srgbClr val="6F8DBD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w2_3"/>
          <p:cNvSpPr/>
          <p:nvPr/>
        </p:nvSpPr>
        <p:spPr>
          <a:xfrm>
            <a:off x="5312664" y="1965960"/>
            <a:ext cx="1353312" cy="50292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VLM judge</a:t>
            </a:r>
          </a:p>
        </p:txBody>
      </p:sp>
      <p:sp>
        <p:nvSpPr>
          <p:cNvPr id="23" name="arr2_3"/>
          <p:cNvSpPr/>
          <p:nvPr/>
        </p:nvSpPr>
        <p:spPr>
          <a:xfrm>
            <a:off x="6528816" y="2084832"/>
            <a:ext cx="384048" cy="201168"/>
          </a:xfrm>
          <a:prstGeom prst="rightArrow">
            <a:avLst/>
          </a:prstGeom>
          <a:solidFill>
            <a:srgbClr val="6F8DBD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w2_4"/>
          <p:cNvSpPr/>
          <p:nvPr/>
        </p:nvSpPr>
        <p:spPr>
          <a:xfrm>
            <a:off x="6976872" y="1965960"/>
            <a:ext cx="1353312" cy="50292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Parse JSON</a:t>
            </a:r>
          </a:p>
        </p:txBody>
      </p:sp>
      <p:sp>
        <p:nvSpPr>
          <p:cNvPr id="25" name="arr2_4"/>
          <p:cNvSpPr/>
          <p:nvPr/>
        </p:nvSpPr>
        <p:spPr>
          <a:xfrm>
            <a:off x="8193024" y="2084832"/>
            <a:ext cx="384048" cy="201168"/>
          </a:xfrm>
          <a:prstGeom prst="rightArrow">
            <a:avLst/>
          </a:prstGeom>
          <a:solidFill>
            <a:srgbClr val="6F8DBD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w2_5"/>
          <p:cNvSpPr/>
          <p:nvPr/>
        </p:nvSpPr>
        <p:spPr>
          <a:xfrm>
            <a:off x="8641080" y="1965960"/>
            <a:ext cx="1353312" cy="50292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Metrics</a:t>
            </a:r>
          </a:p>
        </p:txBody>
      </p:sp>
      <p:sp>
        <p:nvSpPr>
          <p:cNvPr id="27" name="arr2_5"/>
          <p:cNvSpPr/>
          <p:nvPr/>
        </p:nvSpPr>
        <p:spPr>
          <a:xfrm>
            <a:off x="9857232" y="2084832"/>
            <a:ext cx="384048" cy="201168"/>
          </a:xfrm>
          <a:prstGeom prst="rightArrow">
            <a:avLst/>
          </a:prstGeom>
          <a:solidFill>
            <a:srgbClr val="6F8DBD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w2_6"/>
          <p:cNvSpPr/>
          <p:nvPr/>
        </p:nvSpPr>
        <p:spPr>
          <a:xfrm>
            <a:off x="10305288" y="1965960"/>
            <a:ext cx="1353312" cy="50292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Export</a:t>
            </a:r>
          </a:p>
        </p:txBody>
      </p:sp>
      <p:sp>
        <p:nvSpPr>
          <p:cNvPr id="29" name="repair"/>
          <p:cNvSpPr/>
          <p:nvPr/>
        </p:nvSpPr>
        <p:spPr>
          <a:xfrm>
            <a:off x="2057400" y="3154680"/>
            <a:ext cx="7909560" cy="713232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100">
                <a:solidFill>
                  <a:srgbClr val="2D2A18"/>
                </a:solidFill>
              </a:rPr>
              <a:t>Repair loop when invalid and budget remains:</a:t>
            </a:r>
          </a:p>
          <a:p>
            <a:pPr/>
            <a:r>
              <a:rPr lang="en-US" sz="1100">
                <a:solidFill>
                  <a:srgbClr val="2D2A18"/>
                </a:solidFill>
              </a:rPr>
              <a:t>VLM judge -&gt; Build feedback -&gt; Repair layout -&gt; Re-evaluate -&gt; Evidence/Judge path</a:t>
            </a:r>
          </a:p>
        </p:txBody>
      </p:sp>
      <p:sp>
        <p:nvSpPr>
          <p:cNvPr id="30" name="notes"/>
          <p:cNvSpPr/>
          <p:nvPr/>
        </p:nvSpPr>
        <p:spPr>
          <a:xfrm>
            <a:off x="594360" y="4251960"/>
            <a:ext cx="5394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100">
                <a:solidFill>
                  <a:srgbClr val="18332B"/>
                </a:solidFill>
              </a:rPr>
              <a:t>- Deterministic schema/physical/view/grouping logic builds evidence.</a:t>
            </a:r>
          </a:p>
          <a:p>
            <a:pPr/>
            <a:r>
              <a:rPr lang="en-US" sz="1100">
                <a:solidFill>
                  <a:srgbClr val="18332B"/>
                </a:solidFill>
              </a:rPr>
              <a:t>- It does not directly decide final validity.</a:t>
            </a:r>
          </a:p>
          <a:p>
            <a:pPr/>
            <a:r>
              <a:rPr lang="en-US" sz="1100">
                <a:solidFill>
                  <a:srgbClr val="18332B"/>
                </a:solidFill>
              </a:rPr>
              <a:t>- Judge evidence budgeting packages input; it is not evaluation logic.</a:t>
            </a:r>
          </a:p>
        </p:txBody>
      </p:sp>
      <p:sp>
        <p:nvSpPr>
          <p:cNvPr id="31" name="notes2"/>
          <p:cNvSpPr/>
          <p:nvPr/>
        </p:nvSpPr>
        <p:spPr>
          <a:xfrm>
            <a:off x="6263640" y="4251960"/>
            <a:ext cx="5394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100">
                <a:solidFill>
                  <a:srgbClr val="18332B"/>
                </a:solidFill>
              </a:rPr>
              <a:t>- Parseable layout: overall_valid = vlm_judgement.valid.</a:t>
            </a:r>
          </a:p>
          <a:p>
            <a:pPr/>
            <a:r>
              <a:rPr lang="en-US" sz="1100">
                <a:solidFill>
                  <a:srgbClr val="18332B"/>
                </a:solidFill>
              </a:rPr>
              <a:t>- Optional repair repeats the evaluation path.</a:t>
            </a:r>
          </a:p>
          <a:p>
            <a:pPr/>
            <a:r>
              <a:rPr lang="en-US" sz="1100">
                <a:solidFill>
                  <a:srgbClr val="18332B"/>
                </a:solidFill>
              </a:rPr>
              <a:t>- Outputs include viewer_scene.json and workflow_trace.json.</a:t>
            </a:r>
          </a:p>
        </p:txBody>
      </p:sp>
      <p:sp>
        <p:nvSpPr>
          <p:cNvPr id="32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src/benchmark/workflow/nodes.py, evaluation.py, trace.py; configs/benchmark_config.yaml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Evidence Construction: Serious Collision Threshold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scale-aware debug flag; physical flags remain evidence only</a:t>
            </a:r>
          </a:p>
        </p:txBody>
      </p:sp>
      <p:sp>
        <p:nvSpPr>
          <p:cNvPr id="3" name="left"/>
          <p:cNvSpPr/>
          <p:nvPr/>
        </p:nvSpPr>
        <p:spPr>
          <a:xfrm>
            <a:off x="502920" y="105156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Current serious_collision gate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overlap_ratio &gt; 0.60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intersection_volume_m3 &gt; effective threshold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threshold is recorded per candidate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flag does not set overall_valid</a:t>
            </a:r>
          </a:p>
        </p:txBody>
      </p:sp>
      <p:sp>
        <p:nvSpPr>
          <p:cNvPr id="4" name="formula"/>
          <p:cNvSpPr/>
          <p:nvPr/>
        </p:nvSpPr>
        <p:spPr>
          <a:xfrm>
            <a:off x="4663440" y="960120"/>
            <a:ext cx="6720840" cy="233172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300" b="1">
                <a:solidFill>
                  <a:srgbClr val="0A211B"/>
                </a:solidFill>
              </a:rPr>
              <a:t>effective_min_collision_volume_m3 =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clamp(max(abs_min_volume_m3,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object_volume_ratio * smaller_object_volume_m3,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scene_volume_ratio * room_floor_area_m2 * room_height_m),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min_cap_m3, max_cap_m3)</a:t>
            </a:r>
          </a:p>
        </p:txBody>
      </p:sp>
      <p:sp>
        <p:nvSpPr>
          <p:cNvPr id="5" name="cfg"/>
          <p:cNvSpPr/>
          <p:nvPr/>
        </p:nvSpPr>
        <p:spPr>
          <a:xfrm>
            <a:off x="502920" y="3520440"/>
            <a:ext cx="10881360" cy="141732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2D2A18"/>
                </a:solidFill>
              </a:rPr>
              <a:t>Config defaults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abs_min=0.002 m3 | object_volume_ratio=0.01 | scene_volume_ratio=0.0001 | cap=[0.002, 0.05] m3</a:t>
            </a:r>
          </a:p>
        </p:txBody>
      </p:sp>
      <p:sp>
        <p:nvSpPr>
          <p:cNvPr id="6" name="debug"/>
          <p:cNvSpPr/>
          <p:nvPr/>
        </p:nvSpPr>
        <p:spPr>
          <a:xfrm>
            <a:off x="502920" y="5166360"/>
            <a:ext cx="10881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000">
                <a:solidFill>
                  <a:srgbClr val="18332B"/>
                </a:solidFill>
              </a:rPr>
              <a:t>Debug evidence records: intersection_volume_m3, smaller_object_volume_m3, overlap_ratio, effective_min_collision_volume_m3, threshold_source=scale_aware</a:t>
            </a:r>
          </a:p>
        </p:txBody>
      </p:sp>
      <p:sp>
        <p:nvSpPr>
          <p:cNvPr id="7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configs/benchmark_config.yaml; src/benchmark/evidence_config.py; src/benchmark/workflow/physical_flags.py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Grouping Algorithm and HSSD-HAB Compatibility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deterministic evidence grouping, not semantic ground-truth extraction</a:t>
            </a:r>
          </a:p>
        </p:txBody>
      </p:sp>
      <p:sp>
        <p:nvSpPr>
          <p:cNvPr id="3" name="nodes"/>
          <p:cNvSpPr/>
          <p:nvPr/>
        </p:nvSpPr>
        <p:spPr>
          <a:xfrm>
            <a:off x="548640" y="1005840"/>
            <a:ext cx="3108960" cy="91440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500" b="1">
                <a:solidFill>
                  <a:srgbClr val="0A211B"/>
                </a:solidFill>
              </a:rPr>
              <a:t>Graph nodes</a:t>
            </a:r>
          </a:p>
          <a:p>
            <a:pPr/>
            <a:r>
              <a:rPr lang="en-US" sz="1500" b="1">
                <a:solidFill>
                  <a:srgbClr val="0A211B"/>
                </a:solidFill>
              </a:rPr>
              <a:t>renderable layout objects</a:t>
            </a:r>
          </a:p>
        </p:txBody>
      </p:sp>
      <p:sp>
        <p:nvSpPr>
          <p:cNvPr id="4" name="edges"/>
          <p:cNvSpPr/>
          <p:nvPr/>
        </p:nvSpPr>
        <p:spPr>
          <a:xfrm>
            <a:off x="3886200" y="1005840"/>
            <a:ext cx="4343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Edges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support_parent / attachment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explicit visible/layout relations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derived support geometry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metadata-local / proximity</a:t>
            </a:r>
          </a:p>
        </p:txBody>
      </p:sp>
      <p:sp>
        <p:nvSpPr>
          <p:cNvPr id="5" name="invariant"/>
          <p:cNvSpPr/>
          <p:nvPr/>
        </p:nvSpPr>
        <p:spPr>
          <a:xfrm>
            <a:off x="8458200" y="1005840"/>
            <a:ext cx="2971800" cy="9144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300" b="1">
                <a:solidFill>
                  <a:srgbClr val="2D2A18"/>
                </a:solidFill>
              </a:rPr>
              <a:t>Invariant</a:t>
            </a:r>
          </a:p>
          <a:p>
            <a:pPr/>
            <a:r>
              <a:rPr lang="en-US" sz="1300" b="1">
                <a:solidFill>
                  <a:srgbClr val="2D2A18"/>
                </a:solidFill>
              </a:rPr>
              <a:t>every renderable object belongs to exactly one group</a:t>
            </a:r>
          </a:p>
        </p:txBody>
      </p:sp>
      <p:sp>
        <p:nvSpPr>
          <p:cNvPr id="6" name="compat"/>
          <p:cNvSpPr/>
          <p:nvPr/>
        </p:nvSpPr>
        <p:spPr>
          <a:xfrm>
            <a:off x="594360" y="3520440"/>
            <a:ext cx="10789920" cy="123444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0A211B"/>
                </a:solidFill>
              </a:rPr>
              <a:t>HSSD-HAB compatibility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Imported HSSD metadata/floor regions do not provide a complete object-object semantic relation graph.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Grouping therefore combines available metadata with geometry heuristics.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Current decision: grouping rules are acceptable for now.</a:t>
            </a:r>
          </a:p>
        </p:txBody>
      </p:sp>
      <p:sp>
        <p:nvSpPr>
          <p:cNvPr id="7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src/benchmark/workflow/grouping.py; configs/benchmark_config.yaml; tests/test_object_grouping.py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Rendering Implementation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bbox-only perspective evidence renderer</a:t>
            </a:r>
          </a:p>
        </p:txBody>
      </p:sp>
      <p:sp>
        <p:nvSpPr>
          <p:cNvPr id="3" name="r_0"/>
          <p:cNvSpPr/>
          <p:nvPr/>
        </p:nvSpPr>
        <p:spPr>
          <a:xfrm>
            <a:off x="502920" y="1143000"/>
            <a:ext cx="1417320" cy="5943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layout.json</a:t>
            </a:r>
          </a:p>
        </p:txBody>
      </p:sp>
      <p:sp>
        <p:nvSpPr>
          <p:cNvPr id="4" name="ra_0"/>
          <p:cNvSpPr/>
          <p:nvPr/>
        </p:nvSpPr>
        <p:spPr>
          <a:xfrm>
            <a:off x="1719072" y="1298448"/>
            <a:ext cx="411480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r_1"/>
          <p:cNvSpPr/>
          <p:nvPr/>
        </p:nvSpPr>
        <p:spPr>
          <a:xfrm>
            <a:off x="2377440" y="1143000"/>
            <a:ext cx="1417320" cy="5943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cuboid vertices/faces</a:t>
            </a:r>
          </a:p>
        </p:txBody>
      </p:sp>
      <p:sp>
        <p:nvSpPr>
          <p:cNvPr id="6" name="ra_1"/>
          <p:cNvSpPr/>
          <p:nvPr/>
        </p:nvSpPr>
        <p:spPr>
          <a:xfrm>
            <a:off x="3593592" y="1298448"/>
            <a:ext cx="411480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r_2"/>
          <p:cNvSpPr/>
          <p:nvPr/>
        </p:nvSpPr>
        <p:spPr>
          <a:xfrm>
            <a:off x="4251960" y="1143000"/>
            <a:ext cx="1417320" cy="5943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camera pose</a:t>
            </a:r>
          </a:p>
        </p:txBody>
      </p:sp>
      <p:sp>
        <p:nvSpPr>
          <p:cNvPr id="8" name="ra_2"/>
          <p:cNvSpPr/>
          <p:nvPr/>
        </p:nvSpPr>
        <p:spPr>
          <a:xfrm>
            <a:off x="5468112" y="1298448"/>
            <a:ext cx="411480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_3"/>
          <p:cNvSpPr/>
          <p:nvPr/>
        </p:nvSpPr>
        <p:spPr>
          <a:xfrm>
            <a:off x="6126480" y="1143000"/>
            <a:ext cx="1417320" cy="5943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perspective project</a:t>
            </a:r>
          </a:p>
        </p:txBody>
      </p:sp>
      <p:sp>
        <p:nvSpPr>
          <p:cNvPr id="10" name="ra_3"/>
          <p:cNvSpPr/>
          <p:nvPr/>
        </p:nvSpPr>
        <p:spPr>
          <a:xfrm>
            <a:off x="7342632" y="1298448"/>
            <a:ext cx="411480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r_4"/>
          <p:cNvSpPr/>
          <p:nvPr/>
        </p:nvSpPr>
        <p:spPr>
          <a:xfrm>
            <a:off x="8001000" y="1143000"/>
            <a:ext cx="1417320" cy="5943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z-buffer rasterize</a:t>
            </a:r>
          </a:p>
        </p:txBody>
      </p:sp>
      <p:sp>
        <p:nvSpPr>
          <p:cNvPr id="12" name="ra_4"/>
          <p:cNvSpPr/>
          <p:nvPr/>
        </p:nvSpPr>
        <p:spPr>
          <a:xfrm>
            <a:off x="9217152" y="1298448"/>
            <a:ext cx="411480" cy="201168"/>
          </a:xfrm>
          <a:prstGeom prst="rightArrow">
            <a:avLst/>
          </a:prstGeom>
          <a:solidFill>
            <a:srgbClr val="7CA692"/>
          </a:solidFill>
          <a:ln w="12700">
            <a:solidFill>
              <a:srgbClr val="7CA692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8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_5"/>
          <p:cNvSpPr/>
          <p:nvPr/>
        </p:nvSpPr>
        <p:spPr>
          <a:xfrm>
            <a:off x="9875520" y="1143000"/>
            <a:ext cx="1417320" cy="5943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900" b="1">
                <a:solidFill>
                  <a:srgbClr val="0A211B"/>
                </a:solidFill>
              </a:rPr>
              <a:t>PNG + diagnostics</a:t>
            </a:r>
          </a:p>
        </p:txBody>
      </p:sp>
      <p:sp>
        <p:nvSpPr>
          <p:cNvPr id="14" name="facts"/>
          <p:cNvSpPr/>
          <p:nvPr/>
        </p:nvSpPr>
        <p:spPr>
          <a:xfrm>
            <a:off x="594360" y="2514600"/>
            <a:ext cx="53035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Implementation facts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SimpleBBoxRenderer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backend = perspective_bbox_zbuffer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no meshes/assets/Blender/Habitat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bbox is the only scene representation</a:t>
            </a:r>
          </a:p>
        </p:txBody>
      </p:sp>
      <p:sp>
        <p:nvSpPr>
          <p:cNvPr id="15" name="policy"/>
          <p:cNvSpPr/>
          <p:nvPr/>
        </p:nvSpPr>
        <p:spPr>
          <a:xfrm>
            <a:off x="6263640" y="2514600"/>
            <a:ext cx="5074920" cy="187452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2D2A18"/>
                </a:solidFill>
              </a:rPr>
              <a:t>Decision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- Renderer is fine for now.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- Camera retry behavior unchanged.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- Source default: max_camera_retries = 4.</a:t>
            </a:r>
          </a:p>
        </p:txBody>
      </p:sp>
      <p:sp>
        <p:nvSpPr>
          <p:cNvPr id="16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src/benchmark/visualization/view_renderer.py; configs/benchmark_config.yaml; configs/render/bbox_perspective_default.yaml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VLM-as-Judge Evaluation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final validity source for parseable bbox-proxy layouts</a:t>
            </a:r>
          </a:p>
        </p:txBody>
      </p:sp>
      <p:sp>
        <p:nvSpPr>
          <p:cNvPr id="3" name="policy"/>
          <p:cNvSpPr/>
          <p:nvPr/>
        </p:nvSpPr>
        <p:spPr>
          <a:xfrm>
            <a:off x="548640" y="960120"/>
            <a:ext cx="4983480" cy="196596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0A211B"/>
                </a:solidFill>
              </a:rPr>
              <a:t>Evaluator policy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active evaluator: vlm_as_judge_v1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parseable layout: overall_valid = vlm_judgement.valid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deterministic flags are evidence only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judge evaluates bbox layout quality, not photorealism</a:t>
            </a:r>
          </a:p>
        </p:txBody>
      </p:sp>
      <p:sp>
        <p:nvSpPr>
          <p:cNvPr id="4" name="rubric"/>
          <p:cNvSpPr/>
          <p:nvPr/>
        </p:nvSpPr>
        <p:spPr>
          <a:xfrm>
            <a:off x="5806440" y="960120"/>
            <a:ext cx="5486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500" b="1">
                <a:solidFill>
                  <a:srgbClr val="18332B"/>
                </a:solidFill>
              </a:rPr>
              <a:t>Compact rubric</a:t>
            </a:r>
          </a:p>
          <a:p>
            <a:pPr/>
            <a:r>
              <a:rPr lang="en-US" sz="1500" b="1">
                <a:solidFill>
                  <a:srgbClr val="18332B"/>
                </a:solidFill>
              </a:rPr>
              <a:t>parseability | completeness | boundary | height | collision | support | evidence sufficiency</a:t>
            </a:r>
          </a:p>
        </p:txBody>
      </p:sp>
      <p:sp>
        <p:nvSpPr>
          <p:cNvPr id="5" name="status"/>
          <p:cNvSpPr/>
          <p:nvPr/>
        </p:nvSpPr>
        <p:spPr>
          <a:xfrm>
            <a:off x="548640" y="3520440"/>
            <a:ext cx="10744200" cy="96012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300">
                <a:solidFill>
                  <a:srgbClr val="2D2A18"/>
                </a:solidFill>
              </a:rPr>
              <a:t>Decision</a:t>
            </a:r>
          </a:p>
          <a:p>
            <a:pPr/>
            <a:r>
              <a:rPr lang="en-US" sz="1300">
                <a:solidFill>
                  <a:srgbClr val="2D2A18"/>
                </a:solidFill>
              </a:rPr>
              <a:t>Temporary rubric is acceptable for now. It should not penalize missing meshes, textures, doors/windows, or photorealism.</a:t>
            </a:r>
          </a:p>
        </p:txBody>
      </p:sp>
      <p:sp>
        <p:nvSpPr>
          <p:cNvPr id="6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configs/benchmark_config.yaml; src/benchmark/workflow/evaluation.py; src/benchmark/workflow/judge_summaries.py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Repair Collision Threshold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soft collision is advisory repair feedback</a:t>
            </a:r>
          </a:p>
        </p:txBody>
      </p:sp>
      <p:sp>
        <p:nvSpPr>
          <p:cNvPr id="3" name="left"/>
          <p:cNvSpPr/>
          <p:nvPr/>
        </p:nvSpPr>
        <p:spPr>
          <a:xfrm>
            <a:off x="502920" y="105156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Soft collision gate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soft_overlap_ratio = 0.15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dimensionless ratio is fine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volume threshold is now scale-aware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repair feedback is advisory prompt context</a:t>
            </a:r>
          </a:p>
        </p:txBody>
      </p:sp>
      <p:sp>
        <p:nvSpPr>
          <p:cNvPr id="4" name="formula"/>
          <p:cNvSpPr/>
          <p:nvPr/>
        </p:nvSpPr>
        <p:spPr>
          <a:xfrm>
            <a:off x="4663440" y="960120"/>
            <a:ext cx="6720840" cy="233172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300" b="1">
                <a:solidFill>
                  <a:srgbClr val="0A211B"/>
                </a:solidFill>
              </a:rPr>
              <a:t>effective_soft_min_volume_m3 =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clamp(max(abs_min_volume_m3,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object_volume_ratio * smaller_object_volume_m3,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scene_volume_ratio * room_floor_area_m2 * room_height_m),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min_cap_m3, max_cap_m3)</a:t>
            </a:r>
          </a:p>
        </p:txBody>
      </p:sp>
      <p:sp>
        <p:nvSpPr>
          <p:cNvPr id="5" name="cfg"/>
          <p:cNvSpPr/>
          <p:nvPr/>
        </p:nvSpPr>
        <p:spPr>
          <a:xfrm>
            <a:off x="502920" y="3520440"/>
            <a:ext cx="10881360" cy="1417320"/>
          </a:xfrm>
          <a:prstGeom prst="roundRect">
            <a:avLst/>
          </a:prstGeom>
          <a:solidFill>
            <a:srgbClr val="FFF8DC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2D2A18"/>
                </a:solidFill>
              </a:rPr>
              <a:t>Config defaults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abs_min=0.001 m3 | object_volume_ratio=0.005 | scene_volume_ratio=0.00005 | cap=[0.001, 0.03] m3</a:t>
            </a:r>
          </a:p>
        </p:txBody>
      </p:sp>
      <p:sp>
        <p:nvSpPr>
          <p:cNvPr id="6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configs/benchmark_config.yaml; src/benchmark/feedback/feedback_builder.py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Repair Candidate Cost Weights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unit-independent normalized cost components</a:t>
            </a:r>
          </a:p>
        </p:txBody>
      </p:sp>
      <p:sp>
        <p:nvSpPr>
          <p:cNvPr id="3" name="issue"/>
          <p:cNvSpPr/>
          <p:nvPr/>
        </p:nvSpPr>
        <p:spPr>
          <a:xfrm>
            <a:off x="502920" y="1005840"/>
            <a:ext cx="4846320" cy="1417320"/>
          </a:xfrm>
          <a:prstGeom prst="roundRect">
            <a:avLst/>
          </a:prstGeom>
          <a:solidFill>
            <a:srgbClr val="F8D7D0"/>
          </a:solidFill>
          <a:ln w="12700">
            <a:solidFill>
              <a:srgbClr val="D66A5F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3B1A16"/>
                </a:solidFill>
              </a:rPr>
              <a:t>Removed active defaults</a:t>
            </a:r>
          </a:p>
          <a:p>
            <a:pPr/>
            <a:r>
              <a:rPr lang="en-US" sz="1200">
                <a:solidFill>
                  <a:srgbClr val="3B1A16"/>
                </a:solidFill>
              </a:rPr>
              <a:t>outside=200 | overlap=150 | movement=0.01</a:t>
            </a:r>
          </a:p>
          <a:p>
            <a:pPr/>
            <a:r>
              <a:rPr lang="en-US" sz="1200">
                <a:solidFill>
                  <a:srgbClr val="3B1A16"/>
                </a:solidFill>
              </a:rPr>
              <a:t>Reason: unit-dependent and case-looking.</a:t>
            </a:r>
          </a:p>
        </p:txBody>
      </p:sp>
      <p:sp>
        <p:nvSpPr>
          <p:cNvPr id="4" name="formula"/>
          <p:cNvSpPr/>
          <p:nvPr/>
        </p:nvSpPr>
        <p:spPr>
          <a:xfrm>
            <a:off x="5623560" y="1005840"/>
            <a:ext cx="5715000" cy="141732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300" b="1">
                <a:solidFill>
                  <a:srgbClr val="0A211B"/>
                </a:solidFill>
              </a:rPr>
              <a:t>total_cost =</a:t>
            </a:r>
          </a:p>
          <a:p>
            <a:pPr/>
            <a:r>
              <a:rPr lang="en-US" sz="1300" b="1">
                <a:solidFill>
                  <a:srgbClr val="0A211B"/>
                </a:solidFill>
              </a:rPr>
              <a:t>outside_weight*outside_cost + overlap_weight*overlap_cost + movement_weight*movement_cost</a:t>
            </a:r>
          </a:p>
        </p:txBody>
      </p:sp>
      <p:sp>
        <p:nvSpPr>
          <p:cNvPr id="5" name="defs"/>
          <p:cNvSpPr/>
          <p:nvPr/>
        </p:nvSpPr>
        <p:spPr>
          <a:xfrm>
            <a:off x="502920" y="2834640"/>
            <a:ext cx="52120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Normalized components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outside_cost: outside penalty / room diagonal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overlap_cost: clipped overlap severity [0,1]</a:t>
            </a:r>
          </a:p>
          <a:p>
            <a:pPr/>
            <a:r>
              <a:rPr lang="en-US" sz="1200">
                <a:solidFill>
                  <a:srgbClr val="18332B"/>
                </a:solidFill>
              </a:rPr>
              <a:t>- movement_cost: movement distance / room diagonal</a:t>
            </a:r>
          </a:p>
        </p:txBody>
      </p:sp>
      <p:sp>
        <p:nvSpPr>
          <p:cNvPr id="6" name="weights"/>
          <p:cNvSpPr/>
          <p:nvPr/>
        </p:nvSpPr>
        <p:spPr>
          <a:xfrm>
            <a:off x="5989320" y="2834640"/>
            <a:ext cx="5349240" cy="16002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400" b="1">
                <a:solidFill>
                  <a:srgbClr val="2D2A18"/>
                </a:solidFill>
              </a:rPr>
              <a:t>Default weights</a:t>
            </a:r>
          </a:p>
          <a:p>
            <a:pPr/>
            <a:r>
              <a:rPr lang="en-US" sz="1400" b="1">
                <a:solidFill>
                  <a:srgbClr val="2D2A18"/>
                </a:solidFill>
              </a:rPr>
              <a:t>outside = 1.0</a:t>
            </a:r>
          </a:p>
          <a:p>
            <a:pPr/>
            <a:r>
              <a:rPr lang="en-US" sz="1400" b="1">
                <a:solidFill>
                  <a:srgbClr val="2D2A18"/>
                </a:solidFill>
              </a:rPr>
              <a:t>overlap = 1.0</a:t>
            </a:r>
          </a:p>
          <a:p>
            <a:pPr/>
            <a:r>
              <a:rPr lang="en-US" sz="1400" b="1">
                <a:solidFill>
                  <a:srgbClr val="2D2A18"/>
                </a:solidFill>
              </a:rPr>
              <a:t>movement = 0.25</a:t>
            </a:r>
          </a:p>
        </p:txBody>
      </p:sp>
      <p:sp>
        <p:nvSpPr>
          <p:cNvPr id="7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configs/benchmark_config.yaml; src/benchmark/feedback/feedback_builder.py; tests/test_feedback_builder.py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Judge Evidence Budget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budgeted mode changes input packaging, not evaluation semantics</a:t>
            </a:r>
          </a:p>
        </p:txBody>
      </p:sp>
      <p:sp>
        <p:nvSpPr>
          <p:cNvPr id="3" name="modes"/>
          <p:cNvSpPr/>
          <p:nvPr/>
        </p:nvSpPr>
        <p:spPr>
          <a:xfrm>
            <a:off x="502920" y="960120"/>
            <a:ext cx="5120640" cy="1828800"/>
          </a:xfrm>
          <a:prstGeom prst="roundRect">
            <a:avLst/>
          </a:prstGeom>
          <a:solidFill>
            <a:srgbClr val="DCE8F8"/>
          </a:solidFill>
          <a:ln w="12700">
            <a:solidFill>
              <a:srgbClr val="6F8DBD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0A211B"/>
                </a:solidFill>
              </a:rPr>
              <a:t>Per model/runtime switch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judge_evidence_budgeting: false -&gt; send full evidence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judge_evidence_budgeting: true -&gt; render all evidence for humans, send selected evidence to VLM</a:t>
            </a:r>
          </a:p>
          <a:p>
            <a:pPr/>
            <a:r>
              <a:rPr lang="en-US" sz="1200">
                <a:solidFill>
                  <a:srgbClr val="0A211B"/>
                </a:solidFill>
              </a:rPr>
              <a:t>- viewer still shows all rendered evidence</a:t>
            </a:r>
          </a:p>
        </p:txBody>
      </p:sp>
      <p:sp>
        <p:nvSpPr>
          <p:cNvPr id="4" name="formula"/>
          <p:cNvSpPr/>
          <p:nvPr/>
        </p:nvSpPr>
        <p:spPr>
          <a:xfrm>
            <a:off x="5897880" y="960120"/>
            <a:ext cx="5394960" cy="18288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5A33A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2D2A18"/>
                </a:solidFill>
              </a:rPr>
              <a:t>Raised bounded budget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base_max_groups_for_judge = 3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budget_raise_ratio = 0.5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max_groups_for_judge_cap = 5</a:t>
            </a:r>
          </a:p>
          <a:p>
            <a:pPr/>
            <a:r>
              <a:rPr lang="en-US" sz="1200">
                <a:solidFill>
                  <a:srgbClr val="2D2A18"/>
                </a:solidFill>
              </a:rPr>
              <a:t>effective groups = min(ceil(3*1.5),5) = 5</a:t>
            </a:r>
          </a:p>
        </p:txBody>
      </p:sp>
      <p:sp>
        <p:nvSpPr>
          <p:cNvPr id="5" name="images"/>
          <p:cNvSpPr/>
          <p:nvPr/>
        </p:nvSpPr>
        <p:spPr>
          <a:xfrm>
            <a:off x="1828800" y="3474720"/>
            <a:ext cx="8503920" cy="91440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800" b="1">
                <a:solidFill>
                  <a:srgbClr val="0A211B"/>
                </a:solidFill>
              </a:rPr>
              <a:t>Effective image capacity</a:t>
            </a:r>
          </a:p>
          <a:p>
            <a:pPr/>
            <a:r>
              <a:rPr lang="en-US" sz="1800" b="1">
                <a:solidFill>
                  <a:srgbClr val="0A211B"/>
                </a:solidFill>
              </a:rPr>
              <a:t>1 global view + 5 groups * 3 views = 16 images</a:t>
            </a:r>
          </a:p>
        </p:txBody>
      </p:sp>
      <p:sp>
        <p:nvSpPr>
          <p:cNvPr id="6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configs/model_config.yaml; configs/benchmark_config.yaml; src/benchmark/workflow/judge_evidence_selector.py; vlm_judge.py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20040" y="164592"/>
            <a:ext cx="11475720" cy="530352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2000" b="1">
                <a:solidFill>
                  <a:srgbClr val="0A211B"/>
                </a:solidFill>
              </a:rPr>
              <a:t>Current Non-Goals / Do Not Change</a:t>
            </a:r>
          </a:p>
          <a:p>
            <a:pPr/>
            <a:r>
              <a:rPr lang="en-US" sz="2000" b="1">
                <a:solidFill>
                  <a:srgbClr val="0A211B"/>
                </a:solidFill>
              </a:rPr>
              <a:t>keep scope narrow while workflow is debugged</a:t>
            </a:r>
          </a:p>
        </p:txBody>
      </p:sp>
      <p:sp>
        <p:nvSpPr>
          <p:cNvPr id="3" name="ng_0"/>
          <p:cNvSpPr/>
          <p:nvPr/>
        </p:nvSpPr>
        <p:spPr>
          <a:xfrm>
            <a:off x="685800" y="1005840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grouping algorithm</a:t>
            </a:r>
          </a:p>
        </p:txBody>
      </p:sp>
      <p:sp>
        <p:nvSpPr>
          <p:cNvPr id="4" name="ng_1"/>
          <p:cNvSpPr/>
          <p:nvPr/>
        </p:nvSpPr>
        <p:spPr>
          <a:xfrm>
            <a:off x="685800" y="1664208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HSSD-HAB relation assumptions</a:t>
            </a:r>
          </a:p>
        </p:txBody>
      </p:sp>
      <p:sp>
        <p:nvSpPr>
          <p:cNvPr id="5" name="ng_2"/>
          <p:cNvSpPr/>
          <p:nvPr/>
        </p:nvSpPr>
        <p:spPr>
          <a:xfrm>
            <a:off x="685800" y="2322576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renderer backend</a:t>
            </a:r>
          </a:p>
        </p:txBody>
      </p:sp>
      <p:sp>
        <p:nvSpPr>
          <p:cNvPr id="6" name="ng_3"/>
          <p:cNvSpPr/>
          <p:nvPr/>
        </p:nvSpPr>
        <p:spPr>
          <a:xfrm>
            <a:off x="685800" y="2980944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camera retry behavior</a:t>
            </a:r>
          </a:p>
        </p:txBody>
      </p:sp>
      <p:sp>
        <p:nvSpPr>
          <p:cNvPr id="7" name="ng_4"/>
          <p:cNvSpPr/>
          <p:nvPr/>
        </p:nvSpPr>
        <p:spPr>
          <a:xfrm>
            <a:off x="6309360" y="1005840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temporary VLM rubric</a:t>
            </a:r>
          </a:p>
        </p:txBody>
      </p:sp>
      <p:sp>
        <p:nvSpPr>
          <p:cNvPr id="8" name="ng_5"/>
          <p:cNvSpPr/>
          <p:nvPr/>
        </p:nvSpPr>
        <p:spPr>
          <a:xfrm>
            <a:off x="6309360" y="1664208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metrics semantics</a:t>
            </a:r>
          </a:p>
        </p:txBody>
      </p:sp>
      <p:sp>
        <p:nvSpPr>
          <p:cNvPr id="9" name="ng_6"/>
          <p:cNvSpPr/>
          <p:nvPr/>
        </p:nvSpPr>
        <p:spPr>
          <a:xfrm>
            <a:off x="6309360" y="2322576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HSSD proxy limitations</a:t>
            </a:r>
          </a:p>
        </p:txBody>
      </p:sp>
      <p:sp>
        <p:nvSpPr>
          <p:cNvPr id="10" name="ng_7"/>
          <p:cNvSpPr/>
          <p:nvPr/>
        </p:nvSpPr>
        <p:spPr>
          <a:xfrm>
            <a:off x="6309360" y="2980944"/>
            <a:ext cx="48920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7D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200">
                <a:solidFill>
                  <a:srgbClr val="18332B"/>
                </a:solidFill>
              </a:rPr>
              <a:t>group selection weights</a:t>
            </a:r>
          </a:p>
        </p:txBody>
      </p:sp>
      <p:sp>
        <p:nvSpPr>
          <p:cNvPr id="11" name="priority"/>
          <p:cNvSpPr/>
          <p:nvPr/>
        </p:nvSpPr>
        <p:spPr>
          <a:xfrm>
            <a:off x="1188720" y="4160520"/>
            <a:ext cx="9875520" cy="1097280"/>
          </a:xfrm>
          <a:prstGeom prst="roundRect">
            <a:avLst/>
          </a:prstGeom>
          <a:solidFill>
            <a:srgbClr val="DDEBE4"/>
          </a:solidFill>
          <a:ln w="12700">
            <a:solidFill>
              <a:srgbClr val="6D8F81"/>
            </a:solidFill>
          </a:ln>
        </p:spPr>
        <p:txBody>
          <a:bodyPr wrap="square" lIns="76200" tIns="45720" rIns="76200" bIns="45720"/>
          <a:lstStyle/>
          <a:p>
            <a:pPr/>
            <a:r>
              <a:rPr lang="en-US" sz="1700" b="1">
                <a:solidFill>
                  <a:srgbClr val="0A211B"/>
                </a:solidFill>
              </a:rPr>
              <a:t>Current priority</a:t>
            </a:r>
          </a:p>
          <a:p>
            <a:pPr/>
            <a:r>
              <a:rPr lang="en-US" sz="1700" b="1">
                <a:solidFill>
                  <a:srgbClr val="0A211B"/>
                </a:solidFill>
              </a:rPr>
              <a:t>workflow correctness + interpretability; final metric design is intentionally deferred</a:t>
            </a:r>
          </a:p>
        </p:txBody>
      </p:sp>
      <p:sp>
        <p:nvSpPr>
          <p:cNvPr id="12" name="Sources"/>
          <p:cNvSpPr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45720" rIns="76200" bIns="45720"/>
          <a:lstStyle/>
          <a:p>
            <a:pPr/>
            <a:r>
              <a:rPr lang="en-US" sz="700">
                <a:solidFill>
                  <a:srgbClr val="58645F"/>
                </a:solidFill>
              </a:rPr>
              <a:t>Sources: current task constraints; README.md; configs/benchmark_config.yaml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ise Technical">
  <a:themeElements>
    <a:clrScheme name="Technical">
      <a:dk1>
        <a:srgbClr val="0A211B"/>
      </a:dk1>
      <a:lt1>
        <a:srgbClr val="F7F9F6"/>
      </a:lt1>
      <a:dk2>
        <a:srgbClr val="18332B"/>
      </a:dk2>
      <a:lt2>
        <a:srgbClr val="FFFFFF"/>
      </a:lt2>
      <a:accent1>
        <a:srgbClr val="6D8F81"/>
      </a:accent1>
      <a:accent2>
        <a:srgbClr val="6F8DBD"/>
      </a:accent2>
      <a:accent3>
        <a:srgbClr val="C5A33A"/>
      </a:accent3>
      <a:accent4>
        <a:srgbClr val="D66A5F"/>
      </a:accent4>
      <a:accent5>
        <a:srgbClr val="58645F"/>
      </a:accent5>
      <a:accent6>
        <a:srgbClr val="CBD7D1"/>
      </a:accent6>
      <a:hlink>
        <a:srgbClr val="2B6CB0"/>
      </a:hlink>
      <a:folHlink>
        <a:srgbClr val="6B46C1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3000"/>
                <a:shade val="7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satMod val="110000"/>
                <a:lumMod val="100000"/>
                <a:shade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3D BBox-Proxy Layout Benchmark Workflow</dc:title>
  <dc:creator>Codex</dc:creator>
  <cp:lastModifiedBy>Codex</cp:lastModifiedBy>
  <dcterms:created xsi:type="dcterms:W3CDTF">2026-06-25T13:36:32Z</dcterms:created>
  <dcterms:modified xsi:type="dcterms:W3CDTF">2026-06-25T13:36:32Z</dcterms:modified>
</cp:coreProperties>
</file>